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9" r:id="rId5"/>
  </p:sldMasterIdLst>
  <p:notesMasterIdLst>
    <p:notesMasterId r:id="rId20"/>
  </p:notesMasterIdLst>
  <p:sldIdLst>
    <p:sldId id="851" r:id="rId6"/>
    <p:sldId id="853" r:id="rId7"/>
    <p:sldId id="848" r:id="rId8"/>
    <p:sldId id="914" r:id="rId9"/>
    <p:sldId id="838840833" r:id="rId10"/>
    <p:sldId id="838840813" r:id="rId11"/>
    <p:sldId id="948" r:id="rId12"/>
    <p:sldId id="947" r:id="rId13"/>
    <p:sldId id="838840834" r:id="rId14"/>
    <p:sldId id="838840835" r:id="rId15"/>
    <p:sldId id="949" r:id="rId16"/>
    <p:sldId id="953" r:id="rId17"/>
    <p:sldId id="933" r:id="rId18"/>
    <p:sldId id="902" r:id="rId19"/>
  </p:sldIdLst>
  <p:sldSz cx="12192000" cy="6858000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35A"/>
    <a:srgbClr val="FF054C"/>
    <a:srgbClr val="EDECEC"/>
    <a:srgbClr val="FF2A65"/>
    <a:srgbClr val="C8C8C8"/>
    <a:srgbClr val="050704"/>
    <a:srgbClr val="262626"/>
    <a:srgbClr val="A6A6A6"/>
    <a:srgbClr val="696D6E"/>
    <a:srgbClr val="616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F2C36-E76B-425F-B2A6-EEFAD76D92EC}" v="10" dt="2020-02-14T18:48:41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3" autoAdjust="0"/>
    <p:restoredTop sz="86443" autoAdjust="0"/>
  </p:normalViewPr>
  <p:slideViewPr>
    <p:cSldViewPr>
      <p:cViewPr varScale="1">
        <p:scale>
          <a:sx n="45" d="100"/>
          <a:sy n="45" d="100"/>
        </p:scale>
        <p:origin x="43" y="5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BA73DA2-9B64-4FED-9C82-BFBEF80F78F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41CFA72-B01C-402E-8568-ECC646405A47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46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2650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55BD2-FBEE-2B43-BCA3-95F743A4C7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078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CFA72-B01C-402E-8568-ECC646405A47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413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2C55BD2-FBEE-2B43-BCA3-95F743A4C7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219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1" name="Shape 2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09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9457" name="Picture 1" descr="C:\Users\cl0972\Downloads\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 userDrawn="1"/>
        </p:nvSpPr>
        <p:spPr>
          <a:xfrm>
            <a:off x="2159563" y="2924944"/>
            <a:ext cx="1728192" cy="9361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" descr="C:\Users\cl0972\Downloads\4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188640"/>
            <a:ext cx="9889099" cy="648072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AAA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5360" y="908720"/>
            <a:ext cx="11521280" cy="5400600"/>
          </a:xfrm>
        </p:spPr>
        <p:txBody>
          <a:bodyPr>
            <a:normAutofit/>
          </a:bodyPr>
          <a:lstStyle>
            <a:lvl1pPr>
              <a:defRPr sz="2400">
                <a:latin typeface="Arial Narrow" pitchFamily="34" charset="0"/>
              </a:defRPr>
            </a:lvl1pPr>
            <a:lvl2pPr>
              <a:defRPr sz="2000">
                <a:latin typeface="Arial Narrow" pitchFamily="34" charset="0"/>
              </a:defRPr>
            </a:lvl2pPr>
            <a:lvl3pPr>
              <a:defRPr sz="1800">
                <a:latin typeface="Arial Narrow" pitchFamily="34" charset="0"/>
              </a:defRPr>
            </a:lvl3pPr>
            <a:lvl4pPr>
              <a:defRPr sz="1600">
                <a:latin typeface="Arial Narrow" pitchFamily="34" charset="0"/>
              </a:defRPr>
            </a:lvl4pPr>
            <a:lvl5pPr>
              <a:defRPr sz="1600">
                <a:latin typeface="Arial Narrow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13286" t="26111" r="14968" b="12748"/>
          <a:stretch>
            <a:fillRect/>
          </a:stretch>
        </p:blipFill>
        <p:spPr bwMode="auto">
          <a:xfrm>
            <a:off x="143339" y="6381328"/>
            <a:ext cx="1920213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1" descr="C:\Users\cl0972\Downloads\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63553" y="2636913"/>
            <a:ext cx="8160908" cy="1362075"/>
          </a:xfrm>
        </p:spPr>
        <p:txBody>
          <a:bodyPr anchor="t"/>
          <a:lstStyle>
            <a:lvl1pPr algn="ctr">
              <a:defRPr sz="4000" b="1" cap="all">
                <a:solidFill>
                  <a:srgbClr val="C0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7218" name="AutoShape 2" descr="https://pod51008.outlook.com/owa/service.svc/s/GetFileAttachment?id=AAMkADI1MWRlMGM1LTU5ZjktNDFhZC04ZTNkLThlYTZhNjM0NDE5MABGAAAAAAAETxcuLbvDRp54NeGoF8yCBwA1kZ4xIJ%2FsRqsigYpw%2BnKDAmaUsC%2F2AACy%2B%2FBMtjjESZmQpSltrJGzAAEyZhE2AAABEgAQAEUNDvE7VPZMuDxaizr8cDw%3D&amp;isImagePreview=True&amp;X-OWA-CANARY=rizF-HPQ0ES4klKPAK6x5pkMWI64_9EISMINWTsFssZyc23drLD5qs2ZL7zmc1IXR3iQsal_jOo."/>
          <p:cNvSpPr>
            <a:spLocks noChangeAspect="1" noChangeArrowheads="1"/>
          </p:cNvSpPr>
          <p:nvPr userDrawn="1"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z="1800"/>
          </a:p>
        </p:txBody>
      </p:sp>
      <p:sp>
        <p:nvSpPr>
          <p:cNvPr id="3" name="Retângulo 2"/>
          <p:cNvSpPr/>
          <p:nvPr userDrawn="1"/>
        </p:nvSpPr>
        <p:spPr>
          <a:xfrm>
            <a:off x="207434" y="160338"/>
            <a:ext cx="1664097" cy="8923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13286" t="26111" r="14968" b="12748"/>
          <a:stretch>
            <a:fillRect/>
          </a:stretch>
        </p:blipFill>
        <p:spPr bwMode="auto">
          <a:xfrm>
            <a:off x="143339" y="6381328"/>
            <a:ext cx="1920213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60400" y="1600203"/>
            <a:ext cx="58420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705600" y="1600203"/>
            <a:ext cx="58420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C:\Users\cl0972\Downloads\4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6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188640"/>
            <a:ext cx="9889099" cy="648072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r>
              <a:rPr lang="pt-BR" dirty="0"/>
              <a:t>AAA</a:t>
            </a:r>
          </a:p>
        </p:txBody>
      </p:sp>
      <p:sp>
        <p:nvSpPr>
          <p:cNvPr id="7" name="Espaço Reservado para Conteúdo 2"/>
          <p:cNvSpPr>
            <a:spLocks noGrp="1"/>
          </p:cNvSpPr>
          <p:nvPr>
            <p:ph idx="1"/>
          </p:nvPr>
        </p:nvSpPr>
        <p:spPr>
          <a:xfrm>
            <a:off x="335360" y="908720"/>
            <a:ext cx="11521280" cy="5400600"/>
          </a:xfrm>
        </p:spPr>
        <p:txBody>
          <a:bodyPr>
            <a:normAutofit/>
          </a:bodyPr>
          <a:lstStyle>
            <a:lvl1pPr>
              <a:defRPr sz="2400">
                <a:latin typeface="Arial Narrow" pitchFamily="34" charset="0"/>
              </a:defRPr>
            </a:lvl1pPr>
            <a:lvl2pPr>
              <a:defRPr sz="2000">
                <a:latin typeface="Arial Narrow" pitchFamily="34" charset="0"/>
              </a:defRPr>
            </a:lvl2pPr>
            <a:lvl3pPr>
              <a:defRPr sz="1800">
                <a:latin typeface="Arial Narrow" pitchFamily="34" charset="0"/>
              </a:defRPr>
            </a:lvl3pPr>
            <a:lvl4pPr>
              <a:defRPr sz="1600">
                <a:latin typeface="Arial Narrow" pitchFamily="34" charset="0"/>
              </a:defRPr>
            </a:lvl4pPr>
            <a:lvl5pPr>
              <a:defRPr sz="1600">
                <a:latin typeface="Arial Narrow" pitchFamily="34" charset="0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9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 l="13286" t="26111" r="14968" b="12748"/>
          <a:stretch>
            <a:fillRect/>
          </a:stretch>
        </p:blipFill>
        <p:spPr bwMode="auto">
          <a:xfrm>
            <a:off x="143339" y="6381328"/>
            <a:ext cx="1920213" cy="47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5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75800" y="274641"/>
            <a:ext cx="29718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60401" y="274641"/>
            <a:ext cx="87122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54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F61D-7EF4-0745-B377-F3337DE9D0A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D8BF6-02A1-BA48-ACE2-D259C39F68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35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ads Escuro MBA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72480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8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3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5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9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1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87725-432B-491B-984C-07014E8D6623}" type="datetimeFigureOut">
              <a:rPr lang="pt-BR" smtClean="0"/>
              <a:pPr/>
              <a:t>12/02/2026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37F0-4084-4098-B9EB-4E9809262FE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  <p:sldLayoutId id="2147483681" r:id="rId13"/>
    <p:sldLayoutId id="214748368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9645F-4DC9-2A48-BCBD-A4EEB864727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6459-3ACA-B848-99AD-0FACFECDF6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tiff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rcRect r="51438"/>
          <a:stretch/>
        </p:blipFill>
        <p:spPr>
          <a:xfrm>
            <a:off x="4619836" y="2924944"/>
            <a:ext cx="2952328" cy="12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0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C197D917-2E2A-47D4-9B01-848FB4A24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pic>
      <p:sp>
        <p:nvSpPr>
          <p:cNvPr id="8" name="TextBox 7"/>
          <p:cNvSpPr txBox="1"/>
          <p:nvPr/>
        </p:nvSpPr>
        <p:spPr>
          <a:xfrm>
            <a:off x="7320137" y="2780928"/>
            <a:ext cx="2495942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70"/>
            <a:r>
              <a:rPr lang="pt-BR" sz="2667" dirty="0">
                <a:solidFill>
                  <a:srgbClr val="EDECEC"/>
                </a:solidFill>
                <a:latin typeface="Gotham HTF Book" pitchFamily="50" charset="0"/>
                <a:cs typeface="Gotham HTF Bold"/>
              </a:rPr>
              <a:t>AULA  0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0137" y="3284984"/>
            <a:ext cx="2495944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70">
              <a:lnSpc>
                <a:spcPct val="170000"/>
              </a:lnSpc>
              <a:buClr>
                <a:srgbClr val="ED145B"/>
              </a:buClr>
            </a:pPr>
            <a:r>
              <a:rPr lang="pt-BR" sz="1600" b="1" dirty="0">
                <a:solidFill>
                  <a:srgbClr val="EDECEC"/>
                </a:solidFill>
                <a:latin typeface="Gotham HTF Light" pitchFamily="50" charset="0"/>
                <a:cs typeface="Roboto Light"/>
              </a:rPr>
              <a:t>Graduação Presencial</a:t>
            </a:r>
          </a:p>
        </p:txBody>
      </p:sp>
      <p:cxnSp>
        <p:nvCxnSpPr>
          <p:cNvPr id="7" name="Straight Connector 23">
            <a:extLst>
              <a:ext uri="{FF2B5EF4-FFF2-40B4-BE49-F238E27FC236}">
                <a16:creationId xmlns:a16="http://schemas.microsoft.com/office/drawing/2014/main" id="{25D630FB-B947-DA41-A3E4-254A9E20E360}"/>
              </a:ext>
            </a:extLst>
          </p:cNvPr>
          <p:cNvCxnSpPr>
            <a:cxnSpLocks/>
          </p:cNvCxnSpPr>
          <p:nvPr/>
        </p:nvCxnSpPr>
        <p:spPr>
          <a:xfrm>
            <a:off x="7392144" y="3356992"/>
            <a:ext cx="2256195" cy="0"/>
          </a:xfrm>
          <a:prstGeom prst="line">
            <a:avLst/>
          </a:prstGeom>
          <a:ln w="15875">
            <a:solidFill>
              <a:srgbClr val="ED14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3282" b="-16008"/>
          <a:stretch/>
        </p:blipFill>
        <p:spPr>
          <a:xfrm>
            <a:off x="2855640" y="2917050"/>
            <a:ext cx="3044419" cy="9131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C2C5B9B-29EB-4B6E-8BF8-18BCDDCD2511}"/>
              </a:ext>
            </a:extLst>
          </p:cNvPr>
          <p:cNvSpPr/>
          <p:nvPr/>
        </p:nvSpPr>
        <p:spPr>
          <a:xfrm>
            <a:off x="2567608" y="4199967"/>
            <a:ext cx="7440158" cy="59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570">
              <a:lnSpc>
                <a:spcPct val="170000"/>
              </a:lnSpc>
              <a:buClr>
                <a:srgbClr val="ED145B"/>
              </a:buClr>
            </a:pPr>
            <a:r>
              <a:rPr lang="en-US" sz="2200" dirty="0">
                <a:solidFill>
                  <a:srgbClr val="FF2A65"/>
                </a:solidFill>
                <a:latin typeface="Biome" panose="020B0502040204020203" pitchFamily="34" charset="0"/>
                <a:cs typeface="Biome" panose="020B0502040204020203" pitchFamily="34" charset="0"/>
              </a:rPr>
              <a:t>Welcome to the next evolution in higher education.</a:t>
            </a:r>
            <a:endParaRPr lang="pt-BR" sz="2200" dirty="0">
              <a:solidFill>
                <a:srgbClr val="FF2A65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0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137954" y="1212739"/>
            <a:ext cx="2488351" cy="21802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181" y="3908824"/>
            <a:ext cx="2725336" cy="1801092"/>
          </a:xfrm>
          <a:prstGeom prst="rect">
            <a:avLst/>
          </a:prstGeom>
        </p:spPr>
      </p:pic>
      <p:sp>
        <p:nvSpPr>
          <p:cNvPr id="11" name="CaixaDeTexto 3"/>
          <p:cNvSpPr txBox="1"/>
          <p:nvPr/>
        </p:nvSpPr>
        <p:spPr>
          <a:xfrm>
            <a:off x="2765367" y="2852936"/>
            <a:ext cx="6661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Bem  Vindos</a:t>
            </a:r>
          </a:p>
        </p:txBody>
      </p:sp>
    </p:spTree>
    <p:extLst>
      <p:ext uri="{BB962C8B-B14F-4D97-AF65-F5344CB8AC3E}">
        <p14:creationId xmlns:p14="http://schemas.microsoft.com/office/powerpoint/2010/main" val="129252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0772" y="392129"/>
            <a:ext cx="343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pt-BR" sz="2800" dirty="0">
                <a:solidFill>
                  <a:srgbClr val="369FC2"/>
                </a:solidFill>
                <a:latin typeface="Gotham HTF Light"/>
              </a:rPr>
              <a:t>SANDRO FERRAZ</a:t>
            </a:r>
            <a:endParaRPr lang="en-US" sz="4400" cap="all" dirty="0">
              <a:solidFill>
                <a:srgbClr val="369FC2"/>
              </a:solidFill>
              <a:latin typeface="Gotham HTF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400" y="1124744"/>
            <a:ext cx="619268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Doutor em Engenharia Biomédica (Unicamp);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Mestre em Engenharia de Automação e Controle (Unicamp) 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Leciona há 20 anos na Graduação e Pós-Graduação;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Atua há 25 anos na área de Robótica;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Consultor e desenvolvedor de tecnologia em  robótica e de </a:t>
            </a:r>
            <a:r>
              <a:rPr lang="pt-BR" sz="1400" dirty="0" err="1">
                <a:solidFill>
                  <a:srgbClr val="369FC2"/>
                </a:solidFill>
                <a:latin typeface="Gotham HTF Light"/>
              </a:rPr>
              <a:t>VANTs</a:t>
            </a:r>
            <a:r>
              <a:rPr lang="pt-BR" sz="1400" dirty="0">
                <a:solidFill>
                  <a:srgbClr val="369FC2"/>
                </a:solidFill>
                <a:latin typeface="Gotham HTF Light"/>
              </a:rPr>
              <a:t>  (Drones) 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Empreendedor;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 err="1">
                <a:solidFill>
                  <a:srgbClr val="369FC2"/>
                </a:solidFill>
                <a:latin typeface="Gotham HTF Light"/>
              </a:rPr>
              <a:t>Maker</a:t>
            </a:r>
            <a:r>
              <a:rPr lang="pt-BR" sz="1400" dirty="0">
                <a:solidFill>
                  <a:srgbClr val="369FC2"/>
                </a:solidFill>
                <a:latin typeface="Gotham HTF Light"/>
              </a:rPr>
              <a:t>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Desenvolvedor de produtos e projetos em 3D;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Desenvolveu ambiente de EAD (UNICAMP e UNIFIEO);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Coordenador de Projetos de robótica (FIAP). 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369FC2"/>
              </a:solidFill>
              <a:latin typeface="Gotham HTF Light"/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369FC2"/>
                </a:solidFill>
                <a:latin typeface="Gotham HTF Light"/>
              </a:rPr>
              <a:t>Publicações científicas: + 50.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l="10953"/>
          <a:stretch/>
        </p:blipFill>
        <p:spPr>
          <a:xfrm>
            <a:off x="7611850" y="0"/>
            <a:ext cx="458015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76B0C31-0C1E-24CD-C3AD-8B7D6BBE72EB}"/>
              </a:ext>
            </a:extLst>
          </p:cNvPr>
          <p:cNvSpPr txBox="1"/>
          <p:nvPr/>
        </p:nvSpPr>
        <p:spPr>
          <a:xfrm>
            <a:off x="1387752" y="5923647"/>
            <a:ext cx="254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FF00"/>
                </a:solidFill>
              </a:rPr>
              <a:t>profsandro@fiap.com.br</a:t>
            </a:r>
            <a:endParaRPr lang="pt-BR" sz="2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6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5CA07-50E9-B8C4-F8D6-54B6646E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0" name="Agrupar 2109">
            <a:extLst>
              <a:ext uri="{FF2B5EF4-FFF2-40B4-BE49-F238E27FC236}">
                <a16:creationId xmlns:a16="http://schemas.microsoft.com/office/drawing/2014/main" id="{83447AB4-1F45-2903-ADA0-CA5B50EF616E}"/>
              </a:ext>
            </a:extLst>
          </p:cNvPr>
          <p:cNvGrpSpPr/>
          <p:nvPr/>
        </p:nvGrpSpPr>
        <p:grpSpPr>
          <a:xfrm>
            <a:off x="75309" y="868807"/>
            <a:ext cx="3885949" cy="1345941"/>
            <a:chOff x="5853022" y="3756117"/>
            <a:chExt cx="3885949" cy="1345941"/>
          </a:xfrm>
        </p:grpSpPr>
        <p:grpSp>
          <p:nvGrpSpPr>
            <p:cNvPr id="2111" name="Agrupar 2110">
              <a:extLst>
                <a:ext uri="{FF2B5EF4-FFF2-40B4-BE49-F238E27FC236}">
                  <a16:creationId xmlns:a16="http://schemas.microsoft.com/office/drawing/2014/main" id="{898C9DE7-322D-7550-F76F-05B7072A730C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25" name="Retângulo: Cantos Arredondados 1024">
                <a:extLst>
                  <a:ext uri="{FF2B5EF4-FFF2-40B4-BE49-F238E27FC236}">
                    <a16:creationId xmlns:a16="http://schemas.microsoft.com/office/drawing/2014/main" id="{DF01BC67-6EB8-3945-87BA-2EADD9217334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27" name="Retângulo: Cantos Arredondados 1026">
                <a:extLst>
                  <a:ext uri="{FF2B5EF4-FFF2-40B4-BE49-F238E27FC236}">
                    <a16:creationId xmlns:a16="http://schemas.microsoft.com/office/drawing/2014/main" id="{C47E56E7-034A-69D1-7C8D-B27A601ED424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Desenvolver 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soluções de tecnologia que participem da jornada do cliente. A tecnologia deverá gerar uma nova experiência do cliente.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50C87055-2C20-5768-14C6-7F64B812E06A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2023</a:t>
              </a:r>
            </a:p>
          </p:txBody>
        </p:sp>
      </p:grpSp>
      <p:grpSp>
        <p:nvGrpSpPr>
          <p:cNvPr id="1029" name="Agrupar 1028">
            <a:extLst>
              <a:ext uri="{FF2B5EF4-FFF2-40B4-BE49-F238E27FC236}">
                <a16:creationId xmlns:a16="http://schemas.microsoft.com/office/drawing/2014/main" id="{C3C5FDB7-A4F5-802B-19D5-0D78A4A1A7F0}"/>
              </a:ext>
            </a:extLst>
          </p:cNvPr>
          <p:cNvGrpSpPr/>
          <p:nvPr/>
        </p:nvGrpSpPr>
        <p:grpSpPr>
          <a:xfrm>
            <a:off x="4125862" y="868807"/>
            <a:ext cx="3885949" cy="1345941"/>
            <a:chOff x="5853022" y="3756117"/>
            <a:chExt cx="3885949" cy="1345941"/>
          </a:xfrm>
        </p:grpSpPr>
        <p:grpSp>
          <p:nvGrpSpPr>
            <p:cNvPr id="1030" name="Agrupar 1029">
              <a:extLst>
                <a:ext uri="{FF2B5EF4-FFF2-40B4-BE49-F238E27FC236}">
                  <a16:creationId xmlns:a16="http://schemas.microsoft.com/office/drawing/2014/main" id="{06EAA1F0-4959-8F7A-DBDE-CAAF9BFDEDB1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32" name="Retângulo: Cantos Arredondados 1031">
                <a:extLst>
                  <a:ext uri="{FF2B5EF4-FFF2-40B4-BE49-F238E27FC236}">
                    <a16:creationId xmlns:a16="http://schemas.microsoft.com/office/drawing/2014/main" id="{8374B4A6-C6BD-1F54-8C93-395E43F918DB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33" name="Retângulo: Cantos Arredondados 1032">
                <a:extLst>
                  <a:ext uri="{FF2B5EF4-FFF2-40B4-BE49-F238E27FC236}">
                    <a16:creationId xmlns:a16="http://schemas.microsoft.com/office/drawing/2014/main" id="{833D8F75-57F1-6ED6-A4F3-09054578B910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Desenvolver soluções inovadoras e disruptivas  nas áreas de mobilidade, ambiental e sustentabilidade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D97FD1CE-B436-91C6-9AD7-BE19D93E8CE1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2023</a:t>
              </a:r>
            </a:p>
          </p:txBody>
        </p:sp>
      </p:grpSp>
      <p:grpSp>
        <p:nvGrpSpPr>
          <p:cNvPr id="1035" name="Agrupar 1034">
            <a:extLst>
              <a:ext uri="{FF2B5EF4-FFF2-40B4-BE49-F238E27FC236}">
                <a16:creationId xmlns:a16="http://schemas.microsoft.com/office/drawing/2014/main" id="{378FDC6B-83CB-806F-0DA0-3263B19DB253}"/>
              </a:ext>
            </a:extLst>
          </p:cNvPr>
          <p:cNvGrpSpPr/>
          <p:nvPr/>
        </p:nvGrpSpPr>
        <p:grpSpPr>
          <a:xfrm>
            <a:off x="8173401" y="842776"/>
            <a:ext cx="3885949" cy="1345941"/>
            <a:chOff x="5853022" y="3756117"/>
            <a:chExt cx="3885949" cy="1345941"/>
          </a:xfrm>
        </p:grpSpPr>
        <p:grpSp>
          <p:nvGrpSpPr>
            <p:cNvPr id="1036" name="Agrupar 1035">
              <a:extLst>
                <a:ext uri="{FF2B5EF4-FFF2-40B4-BE49-F238E27FC236}">
                  <a16:creationId xmlns:a16="http://schemas.microsoft.com/office/drawing/2014/main" id="{10710556-9AF7-44DE-604E-85B7DE9BEF16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38" name="Retângulo: Cantos Arredondados 1037">
                <a:extLst>
                  <a:ext uri="{FF2B5EF4-FFF2-40B4-BE49-F238E27FC236}">
                    <a16:creationId xmlns:a16="http://schemas.microsoft.com/office/drawing/2014/main" id="{BDE46C62-C25A-FA45-3A66-0CDA45405BE6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39" name="Retângulo: Cantos Arredondados 1038">
                <a:extLst>
                  <a:ext uri="{FF2B5EF4-FFF2-40B4-BE49-F238E27FC236}">
                    <a16:creationId xmlns:a16="http://schemas.microsoft.com/office/drawing/2014/main" id="{E7AF2AAB-381E-1642-DFFD-9BF9CFC23558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</a:t>
                </a:r>
                <a:r>
                  <a:rPr lang="pt-B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exoesqueleto e 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sistema de monitoração de ondas cerebrais.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28F0FDA3-5462-9680-208C-48918EB6FC88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2022</a:t>
              </a:r>
            </a:p>
          </p:txBody>
        </p:sp>
      </p:grpSp>
      <p:grpSp>
        <p:nvGrpSpPr>
          <p:cNvPr id="1041" name="Agrupar 1040">
            <a:extLst>
              <a:ext uri="{FF2B5EF4-FFF2-40B4-BE49-F238E27FC236}">
                <a16:creationId xmlns:a16="http://schemas.microsoft.com/office/drawing/2014/main" id="{06753618-6802-4006-44BB-7F40E5871E76}"/>
              </a:ext>
            </a:extLst>
          </p:cNvPr>
          <p:cNvGrpSpPr/>
          <p:nvPr/>
        </p:nvGrpSpPr>
        <p:grpSpPr>
          <a:xfrm>
            <a:off x="75309" y="2303807"/>
            <a:ext cx="3885949" cy="1345941"/>
            <a:chOff x="5853022" y="3756117"/>
            <a:chExt cx="3885949" cy="1345941"/>
          </a:xfrm>
        </p:grpSpPr>
        <p:grpSp>
          <p:nvGrpSpPr>
            <p:cNvPr id="1042" name="Agrupar 1041">
              <a:extLst>
                <a:ext uri="{FF2B5EF4-FFF2-40B4-BE49-F238E27FC236}">
                  <a16:creationId xmlns:a16="http://schemas.microsoft.com/office/drawing/2014/main" id="{F67780C4-9415-5A89-ECD4-BC64A1A797FB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44" name="Retângulo: Cantos Arredondados 1043">
                <a:extLst>
                  <a:ext uri="{FF2B5EF4-FFF2-40B4-BE49-F238E27FC236}">
                    <a16:creationId xmlns:a16="http://schemas.microsoft.com/office/drawing/2014/main" id="{E7FEA901-D2A8-E50C-F29A-61FC5C843AED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45" name="Retângulo: Cantos Arredondados 1044">
                <a:extLst>
                  <a:ext uri="{FF2B5EF4-FFF2-40B4-BE49-F238E27FC236}">
                    <a16:creationId xmlns:a16="http://schemas.microsoft.com/office/drawing/2014/main" id="{9F0611DD-0356-3C4A-24DB-D076CEBC2227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soluções de energia sustentável / renovável e </a:t>
                </a:r>
                <a:r>
                  <a:rPr lang="pt-BR" sz="1200" b="1" i="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IoT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para a comunidade de Nova </a:t>
                </a:r>
                <a:r>
                  <a:rPr lang="pt-BR" sz="1200" b="1" i="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Jabaeté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/ ES.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43" name="CaixaDeTexto 1042">
              <a:extLst>
                <a:ext uri="{FF2B5EF4-FFF2-40B4-BE49-F238E27FC236}">
                  <a16:creationId xmlns:a16="http://schemas.microsoft.com/office/drawing/2014/main" id="{A5C1A537-946B-64CD-EBD3-A00D3E77734A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2021</a:t>
              </a:r>
            </a:p>
          </p:txBody>
        </p:sp>
      </p:grpSp>
      <p:grpSp>
        <p:nvGrpSpPr>
          <p:cNvPr id="1047" name="Agrupar 1046">
            <a:extLst>
              <a:ext uri="{FF2B5EF4-FFF2-40B4-BE49-F238E27FC236}">
                <a16:creationId xmlns:a16="http://schemas.microsoft.com/office/drawing/2014/main" id="{45811F1F-7EE4-4D9D-7200-997AAA2A7296}"/>
              </a:ext>
            </a:extLst>
          </p:cNvPr>
          <p:cNvGrpSpPr/>
          <p:nvPr/>
        </p:nvGrpSpPr>
        <p:grpSpPr>
          <a:xfrm>
            <a:off x="4146987" y="2306911"/>
            <a:ext cx="3885949" cy="1345941"/>
            <a:chOff x="5853022" y="3756117"/>
            <a:chExt cx="3885949" cy="1345941"/>
          </a:xfrm>
        </p:grpSpPr>
        <p:grpSp>
          <p:nvGrpSpPr>
            <p:cNvPr id="1048" name="Agrupar 1047">
              <a:extLst>
                <a:ext uri="{FF2B5EF4-FFF2-40B4-BE49-F238E27FC236}">
                  <a16:creationId xmlns:a16="http://schemas.microsoft.com/office/drawing/2014/main" id="{9C580431-E4ED-126C-94EB-254F48C58A3F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50" name="Retângulo: Cantos Arredondados 1049">
                <a:extLst>
                  <a:ext uri="{FF2B5EF4-FFF2-40B4-BE49-F238E27FC236}">
                    <a16:creationId xmlns:a16="http://schemas.microsoft.com/office/drawing/2014/main" id="{62A55829-37CD-ABDF-4CEA-9C314464351B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51" name="Retângulo: Cantos Arredondados 1050">
                <a:extLst>
                  <a:ext uri="{FF2B5EF4-FFF2-40B4-BE49-F238E27FC236}">
                    <a16:creationId xmlns:a16="http://schemas.microsoft.com/office/drawing/2014/main" id="{63E5FA94-F5E1-EFD9-29E1-9228BA51B95D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projetos na área de </a:t>
                </a:r>
                <a:r>
                  <a:rPr lang="pt-BR" sz="1200" b="1" i="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IoT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realidade aumentada (com </a:t>
                </a:r>
                <a:r>
                  <a:rPr lang="pt-BR" sz="1200" b="1" i="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smart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1200" b="1" i="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glasses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), drones e AGV.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49" name="CaixaDeTexto 1048">
              <a:extLst>
                <a:ext uri="{FF2B5EF4-FFF2-40B4-BE49-F238E27FC236}">
                  <a16:creationId xmlns:a16="http://schemas.microsoft.com/office/drawing/2014/main" id="{40B643D2-5E59-D580-3247-4E258A3671EA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2020</a:t>
              </a:r>
            </a:p>
          </p:txBody>
        </p:sp>
      </p:grpSp>
      <p:grpSp>
        <p:nvGrpSpPr>
          <p:cNvPr id="1053" name="Agrupar 1052">
            <a:extLst>
              <a:ext uri="{FF2B5EF4-FFF2-40B4-BE49-F238E27FC236}">
                <a16:creationId xmlns:a16="http://schemas.microsoft.com/office/drawing/2014/main" id="{55ED36FD-4268-5D8C-2774-91457D480172}"/>
              </a:ext>
            </a:extLst>
          </p:cNvPr>
          <p:cNvGrpSpPr/>
          <p:nvPr/>
        </p:nvGrpSpPr>
        <p:grpSpPr>
          <a:xfrm>
            <a:off x="8194526" y="2280880"/>
            <a:ext cx="3885949" cy="1345941"/>
            <a:chOff x="5853022" y="3756117"/>
            <a:chExt cx="3885949" cy="1345941"/>
          </a:xfrm>
        </p:grpSpPr>
        <p:grpSp>
          <p:nvGrpSpPr>
            <p:cNvPr id="1054" name="Agrupar 1053">
              <a:extLst>
                <a:ext uri="{FF2B5EF4-FFF2-40B4-BE49-F238E27FC236}">
                  <a16:creationId xmlns:a16="http://schemas.microsoft.com/office/drawing/2014/main" id="{7F87DBED-E713-A1CF-0E45-FD92F850BF18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56" name="Retângulo: Cantos Arredondados 1055">
                <a:extLst>
                  <a:ext uri="{FF2B5EF4-FFF2-40B4-BE49-F238E27FC236}">
                    <a16:creationId xmlns:a16="http://schemas.microsoft.com/office/drawing/2014/main" id="{EEE1F9D9-A455-C240-E9B9-8D8E9965EED1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57" name="Retângulo: Cantos Arredondados 1056">
                <a:extLst>
                  <a:ext uri="{FF2B5EF4-FFF2-40B4-BE49-F238E27FC236}">
                    <a16:creationId xmlns:a16="http://schemas.microsoft.com/office/drawing/2014/main" id="{10ACC05F-35A2-873E-FB51-BDE1227FD9B7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dispositivos para </a:t>
                </a:r>
                <a:r>
                  <a:rPr lang="pt-BR" sz="1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IoT</a:t>
                </a:r>
                <a:r>
                  <a:rPr lang="pt-B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para VIVO – Telefonia Rural.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55" name="CaixaDeTexto 1054">
              <a:extLst>
                <a:ext uri="{FF2B5EF4-FFF2-40B4-BE49-F238E27FC236}">
                  <a16:creationId xmlns:a16="http://schemas.microsoft.com/office/drawing/2014/main" id="{A18628C2-F4ED-870E-1D1A-E8526AFE856E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2019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300949B-F652-E757-DBA9-81694C038716}"/>
              </a:ext>
            </a:extLst>
          </p:cNvPr>
          <p:cNvGrpSpPr/>
          <p:nvPr/>
        </p:nvGrpSpPr>
        <p:grpSpPr>
          <a:xfrm>
            <a:off x="75309" y="3741911"/>
            <a:ext cx="3885949" cy="1345941"/>
            <a:chOff x="5853022" y="3756117"/>
            <a:chExt cx="3885949" cy="1345941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9DC6369B-3BC1-1203-515D-9663AFF34CAC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7B230375-CBB4-CA70-B3E4-7037040A27E3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736820D5-4398-9E5D-0F3B-CEB49152EEE9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robô autônomo para inibição de ruído em ambiente hospitalar.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9052ED7C-4101-EC58-C650-DAA8C6A1D264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2018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6ED0410-2681-76ED-0845-5B07B4E86EAF}"/>
              </a:ext>
            </a:extLst>
          </p:cNvPr>
          <p:cNvGrpSpPr/>
          <p:nvPr/>
        </p:nvGrpSpPr>
        <p:grpSpPr>
          <a:xfrm>
            <a:off x="4146987" y="3745015"/>
            <a:ext cx="3885949" cy="1345941"/>
            <a:chOff x="5853022" y="3756117"/>
            <a:chExt cx="3885949" cy="1345941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B7C2E4D7-DF17-6E15-916D-BFF92F2F652A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id="{72D4F814-EE08-E80D-13D2-00DBE0C71370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AA266259-8320-80BF-17F9-A7D4AB10F03D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AGV (</a:t>
                </a:r>
                <a:r>
                  <a:rPr lang="pt-BR" sz="1200" b="1" i="0" dirty="0" err="1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Autonomous</a:t>
                </a:r>
                <a:r>
                  <a:rPr lang="pt-BR" sz="1200" b="1" i="0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1200" b="1" i="0" dirty="0" err="1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Guided</a:t>
                </a:r>
                <a:r>
                  <a:rPr lang="pt-BR" sz="1200" b="1" i="0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Vehicle) para transporte de ferramentas.</a:t>
                </a:r>
                <a:endParaRPr lang="pt-BR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7E644C0-A660-2982-325A-B0ADE8778199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2017</a:t>
              </a:r>
            </a:p>
          </p:txBody>
        </p:sp>
      </p:grpSp>
      <p:pic>
        <p:nvPicPr>
          <p:cNvPr id="13" name="Picture 2" descr="Embraer Logo – PNG e Vetor – Download de Logo">
            <a:extLst>
              <a:ext uri="{FF2B5EF4-FFF2-40B4-BE49-F238E27FC236}">
                <a16:creationId xmlns:a16="http://schemas.microsoft.com/office/drawing/2014/main" id="{FD5476DF-6313-4F2D-63F2-C1C0BD7AF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4" t="41405" b="39470"/>
          <a:stretch/>
        </p:blipFill>
        <p:spPr bwMode="auto">
          <a:xfrm>
            <a:off x="4146987" y="4252936"/>
            <a:ext cx="1416347" cy="27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C9E26C5-B138-6642-70A8-775AF7CFF83D}"/>
              </a:ext>
            </a:extLst>
          </p:cNvPr>
          <p:cNvGrpSpPr/>
          <p:nvPr/>
        </p:nvGrpSpPr>
        <p:grpSpPr>
          <a:xfrm>
            <a:off x="8194526" y="3718984"/>
            <a:ext cx="3885949" cy="1345941"/>
            <a:chOff x="5853022" y="3756117"/>
            <a:chExt cx="3885949" cy="1345941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E9159133-A186-3D06-5D52-75D43F295928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5E04F0B3-EE64-22C5-45DE-E18E178708F4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8" name="Retângulo: Cantos Arredondados 17">
                <a:extLst>
                  <a:ext uri="{FF2B5EF4-FFF2-40B4-BE49-F238E27FC236}">
                    <a16:creationId xmlns:a16="http://schemas.microsoft.com/office/drawing/2014/main" id="{A4B8B316-594A-C0CC-F7B1-B03AD7D424C6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e construção de um VANT de asa fixa (2,20 m de envergadura) para uso em operações.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5312CC2-60B8-2478-4C62-77D53B5AD215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2017-Atual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85F0B6B-0161-39C6-620B-42E83DC8C0A7}"/>
              </a:ext>
            </a:extLst>
          </p:cNvPr>
          <p:cNvGrpSpPr/>
          <p:nvPr/>
        </p:nvGrpSpPr>
        <p:grpSpPr>
          <a:xfrm>
            <a:off x="96434" y="5180015"/>
            <a:ext cx="3885949" cy="1345941"/>
            <a:chOff x="5853022" y="3756117"/>
            <a:chExt cx="3885949" cy="1345941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3A38E9AA-766D-B109-1265-EE1A783B0E51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044438A-984C-B779-9400-E4CAEB66E772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4" name="Retângulo: Cantos Arredondados 23">
                <a:extLst>
                  <a:ext uri="{FF2B5EF4-FFF2-40B4-BE49-F238E27FC236}">
                    <a16:creationId xmlns:a16="http://schemas.microsoft.com/office/drawing/2014/main" id="{5E69CB77-C8AA-4CD3-ECA2-84D826BF50FC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robôs autônomos para corrida (competição).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6D5FA33A-CBE5-918F-F2B5-B9B4010F9953}"/>
                </a:ext>
              </a:extLst>
            </p:cNvPr>
            <p:cNvSpPr txBox="1"/>
            <p:nvPr/>
          </p:nvSpPr>
          <p:spPr>
            <a:xfrm flipH="1">
              <a:off x="5868261" y="4732726"/>
              <a:ext cx="1315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2008 - 2016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FF9B9A8-0A94-C9CF-5269-A0C9ADFD36C9}"/>
              </a:ext>
            </a:extLst>
          </p:cNvPr>
          <p:cNvGrpSpPr/>
          <p:nvPr/>
        </p:nvGrpSpPr>
        <p:grpSpPr>
          <a:xfrm>
            <a:off x="4168112" y="5183119"/>
            <a:ext cx="3885949" cy="1342837"/>
            <a:chOff x="5853022" y="3756117"/>
            <a:chExt cx="3885949" cy="1342837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7B412220-8638-F6A6-FC61-5DF9D2805860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29" name="Retângulo: Cantos Arredondados 28">
                <a:extLst>
                  <a:ext uri="{FF2B5EF4-FFF2-40B4-BE49-F238E27FC236}">
                    <a16:creationId xmlns:a16="http://schemas.microsoft.com/office/drawing/2014/main" id="{4A08A331-7BD9-4E31-11A8-4AFCA4E5A24F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0" name="Retângulo: Cantos Arredondados 29">
                <a:extLst>
                  <a:ext uri="{FF2B5EF4-FFF2-40B4-BE49-F238E27FC236}">
                    <a16:creationId xmlns:a16="http://schemas.microsoft.com/office/drawing/2014/main" id="{D2248675-79FC-8551-F597-E7EF146D940F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Desenvolvimento de robôs a remotamente controlados batalhas de robôs.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69E33B22-06F4-DBA0-BDA5-C10FDE0D4E8C}"/>
                </a:ext>
              </a:extLst>
            </p:cNvPr>
            <p:cNvSpPr txBox="1"/>
            <p:nvPr/>
          </p:nvSpPr>
          <p:spPr>
            <a:xfrm flipH="1">
              <a:off x="5949248" y="4729622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2005-2007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108C92B-6498-2AE8-B64B-609F7A717A98}"/>
              </a:ext>
            </a:extLst>
          </p:cNvPr>
          <p:cNvGrpSpPr/>
          <p:nvPr/>
        </p:nvGrpSpPr>
        <p:grpSpPr>
          <a:xfrm>
            <a:off x="8228227" y="5157088"/>
            <a:ext cx="3885949" cy="1345941"/>
            <a:chOff x="5853022" y="3756117"/>
            <a:chExt cx="3885949" cy="1345941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0AF56997-6C0B-EDA7-5C04-638F197D4EEA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id="{A7ED28DC-86D4-25B5-5FFE-A40A1E316655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6" name="Retângulo: Cantos Arredondados 35">
                <a:extLst>
                  <a:ext uri="{FF2B5EF4-FFF2-40B4-BE49-F238E27FC236}">
                    <a16:creationId xmlns:a16="http://schemas.microsoft.com/office/drawing/2014/main" id="{CCF15C9B-2C01-06C6-7254-F620F65882CB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Projeto e construção de uma </a:t>
                </a:r>
                <a:r>
                  <a:rPr lang="pt-BR" sz="1200" b="1" i="0" dirty="0" err="1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Router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CNC com 3º eixo e laser 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5E90192-57CA-BD37-008F-9BBFEE6708C7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2020</a:t>
              </a:r>
            </a:p>
          </p:txBody>
        </p:sp>
      </p:grpSp>
      <p:pic>
        <p:nvPicPr>
          <p:cNvPr id="38" name="Picture 8" descr="Hospital Alemão Oswaldo Cruz | Hospital em São Paulo">
            <a:extLst>
              <a:ext uri="{FF2B5EF4-FFF2-40B4-BE49-F238E27FC236}">
                <a16:creationId xmlns:a16="http://schemas.microsoft.com/office/drawing/2014/main" id="{1FB7D154-F9E8-A363-8A76-FE0CFA53F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8" t="23756" r="27067" b="24095"/>
          <a:stretch/>
        </p:blipFill>
        <p:spPr bwMode="auto">
          <a:xfrm>
            <a:off x="8240702" y="1080473"/>
            <a:ext cx="1290052" cy="78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atura Logo – PNG e Vetor – Download de Logo">
            <a:extLst>
              <a:ext uri="{FF2B5EF4-FFF2-40B4-BE49-F238E27FC236}">
                <a16:creationId xmlns:a16="http://schemas.microsoft.com/office/drawing/2014/main" id="{D4A2CDC3-B6B1-0EDB-A9D6-956B4C89F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4" t="17085" r="7316" b="19199"/>
          <a:stretch/>
        </p:blipFill>
        <p:spPr bwMode="auto">
          <a:xfrm>
            <a:off x="293082" y="1023000"/>
            <a:ext cx="994881" cy="77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ícone Shell, logo em Vector Logo">
            <a:extLst>
              <a:ext uri="{FF2B5EF4-FFF2-40B4-BE49-F238E27FC236}">
                <a16:creationId xmlns:a16="http://schemas.microsoft.com/office/drawing/2014/main" id="{31C21F3B-5503-6260-AF19-95A9760A6F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25" b="15773"/>
          <a:stretch/>
        </p:blipFill>
        <p:spPr bwMode="auto">
          <a:xfrm>
            <a:off x="4226999" y="987440"/>
            <a:ext cx="1211426" cy="41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aízen | Redefinindo o futuro da energia">
            <a:extLst>
              <a:ext uri="{FF2B5EF4-FFF2-40B4-BE49-F238E27FC236}">
                <a16:creationId xmlns:a16="http://schemas.microsoft.com/office/drawing/2014/main" id="{B320A457-43B6-84EE-18E5-78FFAFE2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456" y="1401801"/>
            <a:ext cx="958389" cy="47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A2B66EA3-CE10-F1FB-5F20-F9FD6558A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658" y="2484421"/>
            <a:ext cx="901728" cy="769517"/>
          </a:xfrm>
          <a:prstGeom prst="rect">
            <a:avLst/>
          </a:prstGeom>
        </p:spPr>
      </p:pic>
      <p:pic>
        <p:nvPicPr>
          <p:cNvPr id="40" name="Picture 2" descr="Encontre na Hipervarejo Bomba Combustível Universal Flex 3 Bar Bosch  F000TE159A Conheça! - Hipervarejo">
            <a:extLst>
              <a:ext uri="{FF2B5EF4-FFF2-40B4-BE49-F238E27FC236}">
                <a16:creationId xmlns:a16="http://schemas.microsoft.com/office/drawing/2014/main" id="{08403FFE-3B9F-F3C0-8802-15945ACF9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41" b="35540"/>
          <a:stretch/>
        </p:blipFill>
        <p:spPr bwMode="auto">
          <a:xfrm>
            <a:off x="4171916" y="2726450"/>
            <a:ext cx="1334449" cy="385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id="{111C3E69-87FE-0811-FA84-FB52D87B8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403" y="2644560"/>
            <a:ext cx="1255290" cy="38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8" descr="CURSO BACHARELADO EM SISTEMAS DE INFORMAÇÃO">
            <a:extLst>
              <a:ext uri="{FF2B5EF4-FFF2-40B4-BE49-F238E27FC236}">
                <a16:creationId xmlns:a16="http://schemas.microsoft.com/office/drawing/2014/main" id="{B7BC8DFF-C25C-E130-6D75-492927332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00" y="5623604"/>
            <a:ext cx="1111287" cy="29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0" descr="Emblema da Polícia Federal">
            <a:extLst>
              <a:ext uri="{FF2B5EF4-FFF2-40B4-BE49-F238E27FC236}">
                <a16:creationId xmlns:a16="http://schemas.microsoft.com/office/drawing/2014/main" id="{C38055A2-A26B-FED3-E23D-334D4A5FE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510" y="3895590"/>
            <a:ext cx="601359" cy="75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 descr="CURSO BACHARELADO EM SISTEMAS DE INFORMAÇÃO">
            <a:extLst>
              <a:ext uri="{FF2B5EF4-FFF2-40B4-BE49-F238E27FC236}">
                <a16:creationId xmlns:a16="http://schemas.microsoft.com/office/drawing/2014/main" id="{3045FBA9-2AA6-E852-8177-278858029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272" y="5601407"/>
            <a:ext cx="1111287" cy="29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P - A Beneficência Portuguesa de São Paulo - Home | Facebook">
            <a:extLst>
              <a:ext uri="{FF2B5EF4-FFF2-40B4-BE49-F238E27FC236}">
                <a16:creationId xmlns:a16="http://schemas.microsoft.com/office/drawing/2014/main" id="{5C4FFDB2-70AD-BE74-5E5A-01BFF5581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9" t="18474" r="18237" b="17526"/>
          <a:stretch/>
        </p:blipFill>
        <p:spPr bwMode="auto">
          <a:xfrm>
            <a:off x="339658" y="3900296"/>
            <a:ext cx="901728" cy="92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8D106AEE-5790-5167-E491-B6B60569C7B8}"/>
              </a:ext>
            </a:extLst>
          </p:cNvPr>
          <p:cNvSpPr txBox="1"/>
          <p:nvPr/>
        </p:nvSpPr>
        <p:spPr>
          <a:xfrm>
            <a:off x="8324453" y="5572304"/>
            <a:ext cx="1177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4472C4"/>
                </a:solidFill>
              </a:rPr>
              <a:t>ROUTER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EEB3B15-9437-EBC2-41D3-C14A7FD280CF}"/>
              </a:ext>
            </a:extLst>
          </p:cNvPr>
          <p:cNvSpPr txBox="1"/>
          <p:nvPr/>
        </p:nvSpPr>
        <p:spPr>
          <a:xfrm>
            <a:off x="1979006" y="46832"/>
            <a:ext cx="7850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PROJETOS</a:t>
            </a:r>
          </a:p>
        </p:txBody>
      </p:sp>
    </p:spTree>
    <p:extLst>
      <p:ext uri="{BB962C8B-B14F-4D97-AF65-F5344CB8AC3E}">
        <p14:creationId xmlns:p14="http://schemas.microsoft.com/office/powerpoint/2010/main" val="4456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0" name="Agrupar 2109">
            <a:extLst>
              <a:ext uri="{FF2B5EF4-FFF2-40B4-BE49-F238E27FC236}">
                <a16:creationId xmlns:a16="http://schemas.microsoft.com/office/drawing/2014/main" id="{78F0E4A1-00CF-B711-4B06-8DFA0C992920}"/>
              </a:ext>
            </a:extLst>
          </p:cNvPr>
          <p:cNvGrpSpPr/>
          <p:nvPr/>
        </p:nvGrpSpPr>
        <p:grpSpPr>
          <a:xfrm>
            <a:off x="75309" y="868807"/>
            <a:ext cx="3885949" cy="1345941"/>
            <a:chOff x="5853022" y="3756117"/>
            <a:chExt cx="3885949" cy="1345941"/>
          </a:xfrm>
        </p:grpSpPr>
        <p:grpSp>
          <p:nvGrpSpPr>
            <p:cNvPr id="2111" name="Agrupar 2110">
              <a:extLst>
                <a:ext uri="{FF2B5EF4-FFF2-40B4-BE49-F238E27FC236}">
                  <a16:creationId xmlns:a16="http://schemas.microsoft.com/office/drawing/2014/main" id="{C0B587A3-1479-5376-10C7-B347FB3CAD7E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25" name="Retângulo: Cantos Arredondados 1024">
                <a:extLst>
                  <a:ext uri="{FF2B5EF4-FFF2-40B4-BE49-F238E27FC236}">
                    <a16:creationId xmlns:a16="http://schemas.microsoft.com/office/drawing/2014/main" id="{255330CE-DC7E-C896-9863-11A689B18D14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27" name="Retângulo: Cantos Arredondados 1026">
                <a:extLst>
                  <a:ext uri="{FF2B5EF4-FFF2-40B4-BE49-F238E27FC236}">
                    <a16:creationId xmlns:a16="http://schemas.microsoft.com/office/drawing/2014/main" id="{637E6483-DC02-A835-5A90-367A4727B97F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Desenvolver uma solução com braço robótico com base móvel, Visão Computacional e IA, para sistema inteligente de separação de produtos.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11971043-A14B-83FC-84F3-2452EA924E03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2024</a:t>
              </a:r>
            </a:p>
          </p:txBody>
        </p:sp>
      </p:grpSp>
      <p:grpSp>
        <p:nvGrpSpPr>
          <p:cNvPr id="1029" name="Agrupar 1028">
            <a:extLst>
              <a:ext uri="{FF2B5EF4-FFF2-40B4-BE49-F238E27FC236}">
                <a16:creationId xmlns:a16="http://schemas.microsoft.com/office/drawing/2014/main" id="{9D8CFDBF-0ADE-BBC5-E02F-0DEBE912BB36}"/>
              </a:ext>
            </a:extLst>
          </p:cNvPr>
          <p:cNvGrpSpPr/>
          <p:nvPr/>
        </p:nvGrpSpPr>
        <p:grpSpPr>
          <a:xfrm>
            <a:off x="4125862" y="868807"/>
            <a:ext cx="3885949" cy="1345941"/>
            <a:chOff x="5853022" y="3756117"/>
            <a:chExt cx="3885949" cy="1345941"/>
          </a:xfrm>
        </p:grpSpPr>
        <p:grpSp>
          <p:nvGrpSpPr>
            <p:cNvPr id="1030" name="Agrupar 1029">
              <a:extLst>
                <a:ext uri="{FF2B5EF4-FFF2-40B4-BE49-F238E27FC236}">
                  <a16:creationId xmlns:a16="http://schemas.microsoft.com/office/drawing/2014/main" id="{D8B62FEC-0BC3-BE13-7F36-567D347D1DAE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1032" name="Retângulo: Cantos Arredondados 1031">
                <a:extLst>
                  <a:ext uri="{FF2B5EF4-FFF2-40B4-BE49-F238E27FC236}">
                    <a16:creationId xmlns:a16="http://schemas.microsoft.com/office/drawing/2014/main" id="{8419CFE7-E190-32B9-1510-997C43CEC95F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033" name="Retângulo: Cantos Arredondados 1032">
                <a:extLst>
                  <a:ext uri="{FF2B5EF4-FFF2-40B4-BE49-F238E27FC236}">
                    <a16:creationId xmlns:a16="http://schemas.microsoft.com/office/drawing/2014/main" id="{9ED81D72-27FF-4C9A-9A42-299B44813CFD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Desenvolver sistema de rastreio e monitoramento de rebocadores e carrinho kit por triangulação </a:t>
                </a:r>
                <a:r>
                  <a:rPr lang="pt-BR" sz="1200" b="1" i="1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indoor</a:t>
                </a:r>
                <a:r>
                  <a:rPr lang="pt-BR" sz="1200" b="1" i="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, nas plantas da John Deere.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59C88145-580B-84D1-E32F-25A0987BEDCB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2024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50F1DD4-49E5-44F2-4F38-EE79B8E65587}"/>
              </a:ext>
            </a:extLst>
          </p:cNvPr>
          <p:cNvSpPr txBox="1"/>
          <p:nvPr/>
        </p:nvSpPr>
        <p:spPr>
          <a:xfrm>
            <a:off x="1979006" y="46832"/>
            <a:ext cx="7850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PROJETOS</a:t>
            </a:r>
          </a:p>
        </p:txBody>
      </p:sp>
      <p:pic>
        <p:nvPicPr>
          <p:cNvPr id="1026" name="Picture 2" descr="SPI Sistemas e automação industrial : Tecnosinos">
            <a:extLst>
              <a:ext uri="{FF2B5EF4-FFF2-40B4-BE49-F238E27FC236}">
                <a16:creationId xmlns:a16="http://schemas.microsoft.com/office/drawing/2014/main" id="{7C0BECC1-2EC0-EB10-8CF8-FB77EDA39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84" y="950959"/>
            <a:ext cx="1009412" cy="48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BDI Marca — Ministério das Comunicações">
            <a:extLst>
              <a:ext uri="{FF2B5EF4-FFF2-40B4-BE49-F238E27FC236}">
                <a16:creationId xmlns:a16="http://schemas.microsoft.com/office/drawing/2014/main" id="{133F210B-6939-B105-E4D7-FB8F035E7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94" y="1492799"/>
            <a:ext cx="669357" cy="37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PARABRISAS E VIDROS PARA TRATORES E COLHEITADEIRAS JOHN DEERE -  Agromaquinas Brasil | Seu fornecedor confiável de máquinas Agrícolas">
            <a:extLst>
              <a:ext uri="{FF2B5EF4-FFF2-40B4-BE49-F238E27FC236}">
                <a16:creationId xmlns:a16="http://schemas.microsoft.com/office/drawing/2014/main" id="{FC982CA5-0140-5211-6398-70679375C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310" y="1066758"/>
            <a:ext cx="1067759" cy="70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0CD29197-7480-9061-7525-ADD7B825BB14}"/>
              </a:ext>
            </a:extLst>
          </p:cNvPr>
          <p:cNvGrpSpPr/>
          <p:nvPr/>
        </p:nvGrpSpPr>
        <p:grpSpPr>
          <a:xfrm>
            <a:off x="8171397" y="868807"/>
            <a:ext cx="3885949" cy="1345941"/>
            <a:chOff x="5853022" y="3756117"/>
            <a:chExt cx="3885949" cy="1345941"/>
          </a:xfrm>
        </p:grpSpPr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A3D0392F-3CB2-C726-D883-ECE0F7A151E0}"/>
                </a:ext>
              </a:extLst>
            </p:cNvPr>
            <p:cNvGrpSpPr/>
            <p:nvPr/>
          </p:nvGrpSpPr>
          <p:grpSpPr>
            <a:xfrm>
              <a:off x="5853022" y="3756117"/>
              <a:ext cx="3885949" cy="1271385"/>
              <a:chOff x="6721813" y="4529974"/>
              <a:chExt cx="3885949" cy="1271385"/>
            </a:xfrm>
          </p:grpSpPr>
          <p:sp>
            <p:nvSpPr>
              <p:cNvPr id="5" name="Retângulo: Cantos Arredondados 4">
                <a:extLst>
                  <a:ext uri="{FF2B5EF4-FFF2-40B4-BE49-F238E27FC236}">
                    <a16:creationId xmlns:a16="http://schemas.microsoft.com/office/drawing/2014/main" id="{0A87EDE9-8332-A619-DDDC-B56620CF781C}"/>
                  </a:ext>
                </a:extLst>
              </p:cNvPr>
              <p:cNvSpPr/>
              <p:nvPr/>
            </p:nvSpPr>
            <p:spPr>
              <a:xfrm>
                <a:off x="6721813" y="4529975"/>
                <a:ext cx="1416347" cy="127138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731F7244-D6FE-F38C-2C5F-C316A8DB9B3B}"/>
                  </a:ext>
                </a:extLst>
              </p:cNvPr>
              <p:cNvSpPr/>
              <p:nvPr/>
            </p:nvSpPr>
            <p:spPr>
              <a:xfrm>
                <a:off x="8180574" y="4529974"/>
                <a:ext cx="2427188" cy="1271384"/>
              </a:xfrm>
              <a:prstGeom prst="roundRect">
                <a:avLst/>
              </a:prstGeom>
              <a:solidFill>
                <a:srgbClr val="4472C4">
                  <a:alpha val="69804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Desenvolver uma solução com braço robótico, Visão Computacional e IA, para sistema inteligente de separação de produtos em uma esteira.</a:t>
                </a:r>
                <a:endParaRPr lang="pt-BR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B0B9DFF8-9A3D-EE95-FB29-E584F795D911}"/>
                </a:ext>
              </a:extLst>
            </p:cNvPr>
            <p:cNvSpPr txBox="1"/>
            <p:nvPr/>
          </p:nvSpPr>
          <p:spPr>
            <a:xfrm flipH="1">
              <a:off x="5949248" y="4732726"/>
              <a:ext cx="121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2025</a:t>
              </a:r>
            </a:p>
          </p:txBody>
        </p:sp>
      </p:grpSp>
      <p:pic>
        <p:nvPicPr>
          <p:cNvPr id="7" name="Picture 2" descr="SPI Sistemas e automação industrial : Tecnosinos">
            <a:extLst>
              <a:ext uri="{FF2B5EF4-FFF2-40B4-BE49-F238E27FC236}">
                <a16:creationId xmlns:a16="http://schemas.microsoft.com/office/drawing/2014/main" id="{C7718096-6CF7-EF46-7C61-71CE9E223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372" y="950959"/>
            <a:ext cx="1009412" cy="48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BDI Marca — Ministério das Comunicações">
            <a:extLst>
              <a:ext uri="{FF2B5EF4-FFF2-40B4-BE49-F238E27FC236}">
                <a16:creationId xmlns:a16="http://schemas.microsoft.com/office/drawing/2014/main" id="{48F36BE2-F08A-5904-CDA7-EFEC9F577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382" y="1492799"/>
            <a:ext cx="669357" cy="37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2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A1AF9C19-D45C-4078-87CF-7DAAE9F080C1}"/>
              </a:ext>
            </a:extLst>
          </p:cNvPr>
          <p:cNvSpPr txBox="1"/>
          <p:nvPr/>
        </p:nvSpPr>
        <p:spPr>
          <a:xfrm>
            <a:off x="6384032" y="4293096"/>
            <a:ext cx="47800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  <a:latin typeface="Gotham-Book"/>
                <a:cs typeface="Gotham-Book"/>
              </a:rPr>
              <a:t>COMPUTER ORGANIZATION AND ARCHITECTURE</a:t>
            </a:r>
          </a:p>
        </p:txBody>
      </p:sp>
      <p:sp>
        <p:nvSpPr>
          <p:cNvPr id="8" name="CaixaDeTexto 8">
            <a:extLst>
              <a:ext uri="{FF2B5EF4-FFF2-40B4-BE49-F238E27FC236}">
                <a16:creationId xmlns:a16="http://schemas.microsoft.com/office/drawing/2014/main" id="{620A8008-9E93-4FF5-8A2B-D9C24DE9D860}"/>
              </a:ext>
            </a:extLst>
          </p:cNvPr>
          <p:cNvSpPr txBox="1"/>
          <p:nvPr/>
        </p:nvSpPr>
        <p:spPr>
          <a:xfrm>
            <a:off x="1415480" y="1450668"/>
            <a:ext cx="3888432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800" b="1" kern="1600" cap="all" dirty="0">
                <a:solidFill>
                  <a:srgbClr val="ED135A"/>
                </a:solidFill>
                <a:latin typeface="Gotham HTF Light" charset="0"/>
              </a:rPr>
              <a:t>BACHARELADO EM ENGENHARIA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6940332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" y="172632"/>
            <a:ext cx="12187091" cy="685773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D640F4-B92C-4587-8059-D2521C47C54F}"/>
              </a:ext>
            </a:extLst>
          </p:cNvPr>
          <p:cNvSpPr/>
          <p:nvPr/>
        </p:nvSpPr>
        <p:spPr>
          <a:xfrm>
            <a:off x="6790999" y="2031839"/>
            <a:ext cx="4868770" cy="3785652"/>
          </a:xfrm>
          <a:prstGeom prst="rect">
            <a:avLst/>
          </a:prstGeom>
          <a:effectLst>
            <a:reflection endPos="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Essa disciplina introduz os princípios fundamentais da organização e arquitetura de computadores, abordando tópicos como sistemas numéricos, representação de dados, processadores, memória, e sistemas de entrada e saída. O curso cobre o projeto e o funcionamento de arquiteturas clássicas e modernas, permitindo aos alunos compreenderem como o hardware executa as instruções dos programas, além de estudar o papel dos sistemas operacionais na interface entre hardware e software. </a:t>
            </a:r>
            <a:endParaRPr lang="pt-BR" sz="2000" dirty="0">
              <a:solidFill>
                <a:schemeClr val="bg1">
                  <a:lumMod val="85000"/>
                </a:schemeClr>
              </a:solidFill>
              <a:latin typeface="Gotham HTF Bold"/>
            </a:endParaRPr>
          </a:p>
        </p:txBody>
      </p:sp>
      <p:pic>
        <p:nvPicPr>
          <p:cNvPr id="7" name="Picture 2" descr="Resultado de imagem para computer future">
            <a:extLst>
              <a:ext uri="{FF2B5EF4-FFF2-40B4-BE49-F238E27FC236}">
                <a16:creationId xmlns:a16="http://schemas.microsoft.com/office/drawing/2014/main" id="{6B58EBA6-3A1F-4FEA-901E-188454B0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1484784"/>
            <a:ext cx="5863868" cy="43979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E4DFBB3E-CBC6-47EB-B452-03AA977ED504}"/>
              </a:ext>
            </a:extLst>
          </p:cNvPr>
          <p:cNvSpPr txBox="1"/>
          <p:nvPr/>
        </p:nvSpPr>
        <p:spPr>
          <a:xfrm>
            <a:off x="8352526" y="961564"/>
            <a:ext cx="343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pt-BR" sz="2800" dirty="0">
                <a:solidFill>
                  <a:schemeClr val="bg1"/>
                </a:solidFill>
                <a:latin typeface="Gotham HTF Light"/>
              </a:rPr>
              <a:t>Ementa</a:t>
            </a:r>
            <a:endParaRPr lang="en-US" sz="4400" cap="all" dirty="0">
              <a:solidFill>
                <a:schemeClr val="bg1"/>
              </a:solidFill>
              <a:latin typeface="Gotham HTF Light"/>
            </a:endParaRPr>
          </a:p>
        </p:txBody>
      </p:sp>
    </p:spTree>
    <p:extLst>
      <p:ext uri="{BB962C8B-B14F-4D97-AF65-F5344CB8AC3E}">
        <p14:creationId xmlns:p14="http://schemas.microsoft.com/office/powerpoint/2010/main" val="294949504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" y="3299"/>
            <a:ext cx="12187091" cy="685773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6F56490-D433-474A-B406-F9A577DE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432704" cy="6858000"/>
          </a:xfrm>
          <a:prstGeom prst="rect">
            <a:avLst/>
          </a:prstGeom>
        </p:spPr>
      </p:pic>
      <p:sp>
        <p:nvSpPr>
          <p:cNvPr id="4" name="CaixaDeTexto 8">
            <a:extLst>
              <a:ext uri="{FF2B5EF4-FFF2-40B4-BE49-F238E27FC236}">
                <a16:creationId xmlns:a16="http://schemas.microsoft.com/office/drawing/2014/main" id="{0F9CF137-B95A-4700-8871-6AEBF1C8BE57}"/>
              </a:ext>
            </a:extLst>
          </p:cNvPr>
          <p:cNvSpPr txBox="1"/>
          <p:nvPr/>
        </p:nvSpPr>
        <p:spPr>
          <a:xfrm>
            <a:off x="695400" y="2798828"/>
            <a:ext cx="4325575" cy="126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conteúdo</a:t>
            </a:r>
            <a:endParaRPr lang="en-US" sz="2300" b="1" kern="1600" cap="all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programático</a:t>
            </a:r>
            <a:endParaRPr lang="en-US" sz="2300" b="1" kern="1600" cap="all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anual</a:t>
            </a:r>
            <a:endParaRPr lang="pt-BR" sz="2300" b="1" kern="1600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F6380D92-B5C1-4406-989C-27D2A310E134}"/>
              </a:ext>
            </a:extLst>
          </p:cNvPr>
          <p:cNvSpPr txBox="1"/>
          <p:nvPr/>
        </p:nvSpPr>
        <p:spPr>
          <a:xfrm>
            <a:off x="5466878" y="313390"/>
            <a:ext cx="4673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pt-BR" sz="2800" dirty="0">
                <a:solidFill>
                  <a:schemeClr val="bg1"/>
                </a:solidFill>
                <a:latin typeface="Gotham HTF Light"/>
              </a:rPr>
              <a:t>1º. Semestre</a:t>
            </a:r>
            <a:endParaRPr lang="en-US" sz="4400" cap="all" dirty="0">
              <a:solidFill>
                <a:schemeClr val="bg1"/>
              </a:solidFill>
              <a:latin typeface="Gotham HTF Ligh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193EFE-6875-43C2-898C-F80914CB22AB}"/>
              </a:ext>
            </a:extLst>
          </p:cNvPr>
          <p:cNvSpPr txBox="1"/>
          <p:nvPr/>
        </p:nvSpPr>
        <p:spPr>
          <a:xfrm>
            <a:off x="5466879" y="1348290"/>
            <a:ext cx="6352807" cy="522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Aula inaugural;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Histórico e  evolução dos computadores;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Classificação dos computadores;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Tipos de computadores;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Filme;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Gabinetes;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Placa mãe;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Memórias: Função, endereçamento e classificação;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Dispositivos de armazenamento em massa;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Dispositivos de entrada e saída de dados.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69638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56" y="-38824"/>
            <a:ext cx="12256554" cy="689682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CB38732-BA66-4AA3-A908-AC9A30597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640" y="0"/>
            <a:ext cx="9144000" cy="685800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70059A1F-DBB8-4267-B94A-3EFC9F8AF68F}"/>
              </a:ext>
            </a:extLst>
          </p:cNvPr>
          <p:cNvSpPr txBox="1"/>
          <p:nvPr/>
        </p:nvSpPr>
        <p:spPr>
          <a:xfrm>
            <a:off x="5447928" y="703090"/>
            <a:ext cx="343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pt-BR" sz="2800" dirty="0">
                <a:solidFill>
                  <a:schemeClr val="bg1"/>
                </a:solidFill>
                <a:latin typeface="Gotham HTF Light"/>
              </a:rPr>
              <a:t>2º. Semestre</a:t>
            </a:r>
            <a:endParaRPr lang="en-US" sz="4400" cap="all" dirty="0">
              <a:solidFill>
                <a:schemeClr val="bg1"/>
              </a:solidFill>
              <a:latin typeface="Gotham HTF Ligh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28AA86-F93B-4B1E-9F46-04DBAB119985}"/>
              </a:ext>
            </a:extLst>
          </p:cNvPr>
          <p:cNvSpPr txBox="1"/>
          <p:nvPr/>
        </p:nvSpPr>
        <p:spPr>
          <a:xfrm>
            <a:off x="5419723" y="1756768"/>
            <a:ext cx="4708725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Placa mãe;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Placa de vídeo;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GPU;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Memórias: Função, endereçamento e classificação;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Dispositivos de armazenamento em massa;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Dispositivos de entrada e saída de dados.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Dispositivos de interface;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Barramentos;</a:t>
            </a: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Gotham HTF Bold"/>
            </a:endParaRPr>
          </a:p>
          <a:p>
            <a:pPr marL="285750" indent="-285750">
              <a:buClr>
                <a:srgbClr val="ED145B"/>
              </a:buClr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  <a:latin typeface="Gotham HTF Bold"/>
              </a:rPr>
              <a:t>Processadores.</a:t>
            </a:r>
          </a:p>
        </p:txBody>
      </p:sp>
      <p:sp>
        <p:nvSpPr>
          <p:cNvPr id="8" name="CaixaDeTexto 8">
            <a:extLst>
              <a:ext uri="{FF2B5EF4-FFF2-40B4-BE49-F238E27FC236}">
                <a16:creationId xmlns:a16="http://schemas.microsoft.com/office/drawing/2014/main" id="{FE47CD1C-77A6-F95C-AB22-C7C28A7F19E6}"/>
              </a:ext>
            </a:extLst>
          </p:cNvPr>
          <p:cNvSpPr txBox="1"/>
          <p:nvPr/>
        </p:nvSpPr>
        <p:spPr>
          <a:xfrm>
            <a:off x="695400" y="2798828"/>
            <a:ext cx="4325575" cy="126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conteúdo</a:t>
            </a:r>
            <a:endParaRPr lang="en-US" sz="2300" b="1" kern="1600" cap="all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programático</a:t>
            </a:r>
            <a:endParaRPr lang="en-US" sz="2300" b="1" kern="1600" cap="all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anual</a:t>
            </a:r>
            <a:endParaRPr lang="pt-BR" sz="2300" b="1" kern="1600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5833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" y="3299"/>
            <a:ext cx="12187091" cy="685773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3" name="CaixaDeTexto 8">
            <a:extLst>
              <a:ext uri="{FF2B5EF4-FFF2-40B4-BE49-F238E27FC236}">
                <a16:creationId xmlns:a16="http://schemas.microsoft.com/office/drawing/2014/main" id="{BA2AD429-C64C-43D2-A606-DC4BEEA80F0F}"/>
              </a:ext>
            </a:extLst>
          </p:cNvPr>
          <p:cNvSpPr txBox="1"/>
          <p:nvPr/>
        </p:nvSpPr>
        <p:spPr>
          <a:xfrm>
            <a:off x="1128841" y="2993496"/>
            <a:ext cx="3181372" cy="871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referências</a:t>
            </a:r>
            <a:endParaRPr lang="en-US" sz="2300" b="1" kern="1600" cap="all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  <a:p>
            <a:pPr algn="ctr">
              <a:lnSpc>
                <a:spcPct val="110000"/>
              </a:lnSpc>
            </a:pPr>
            <a:r>
              <a:rPr lang="en-US" sz="2300" b="1" kern="1600" cap="all" dirty="0" err="1">
                <a:solidFill>
                  <a:srgbClr val="FF0066"/>
                </a:solidFill>
                <a:latin typeface="Gotham HTF" charset="0"/>
                <a:ea typeface="Gotham HTF" charset="0"/>
                <a:cs typeface="Gotham HTF" charset="0"/>
              </a:rPr>
              <a:t>bibliográficas</a:t>
            </a:r>
            <a:endParaRPr lang="pt-BR" sz="2300" b="1" kern="1600" dirty="0">
              <a:solidFill>
                <a:srgbClr val="FF0066"/>
              </a:solidFill>
              <a:latin typeface="Gotham HTF" charset="0"/>
              <a:ea typeface="Gotham HTF" charset="0"/>
              <a:cs typeface="Gotham HTF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CCD03E-3A77-4D89-B6AB-534005488B44}"/>
              </a:ext>
            </a:extLst>
          </p:cNvPr>
          <p:cNvSpPr/>
          <p:nvPr/>
        </p:nvSpPr>
        <p:spPr>
          <a:xfrm>
            <a:off x="7444292" y="4298340"/>
            <a:ext cx="1699708" cy="8868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C2D845A-2A33-457A-AA84-4F9F0445C7D0}"/>
              </a:ext>
            </a:extLst>
          </p:cNvPr>
          <p:cNvSpPr/>
          <p:nvPr/>
        </p:nvSpPr>
        <p:spPr>
          <a:xfrm>
            <a:off x="4439816" y="476672"/>
            <a:ext cx="72008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i="1" dirty="0" err="1">
                <a:solidFill>
                  <a:schemeClr val="bg1"/>
                </a:solidFill>
                <a:latin typeface="Gotham HTF Bold"/>
                <a:cs typeface="Arial" panose="020B0604020202020204" pitchFamily="34" charset="0"/>
              </a:rPr>
              <a:t>Básica</a:t>
            </a:r>
            <a:endParaRPr lang="en-US" sz="1800" b="1" i="1" dirty="0">
              <a:solidFill>
                <a:schemeClr val="bg1"/>
              </a:solidFill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endParaRPr lang="en-US" sz="1400" b="1" dirty="0">
              <a:solidFill>
                <a:schemeClr val="bg1">
                  <a:lumMod val="85000"/>
                </a:schemeClr>
              </a:solidFill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endParaRPr lang="en-US" sz="1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STALLINGS, William. Organização e Arquitetura de Computadores. 11ª ed. Pearson, 2019.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PATTERSON, David A.; HENNESSY, John L. Organização e Projeto de Computadores: A Interface Hardware/Software. 5ª ed. Pearson, 2014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TANENBAUM, Andrew S. Arquitetura de Computadores. Pearson, 2016. 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endParaRPr lang="en-US" sz="1400" b="1" dirty="0">
              <a:solidFill>
                <a:schemeClr val="bg1"/>
              </a:solidFill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800" b="1" i="1" dirty="0" err="1">
                <a:solidFill>
                  <a:schemeClr val="bg1"/>
                </a:solidFill>
                <a:latin typeface="Gotham HTF Bold"/>
                <a:cs typeface="Arial" panose="020B0604020202020204" pitchFamily="34" charset="0"/>
              </a:rPr>
              <a:t>Complementar</a:t>
            </a:r>
            <a:endParaRPr lang="en-US" sz="1800" b="1" i="1" dirty="0">
              <a:solidFill>
                <a:schemeClr val="bg1"/>
              </a:solidFill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endParaRPr lang="en-US" sz="1400" b="1" dirty="0">
              <a:solidFill>
                <a:schemeClr val="bg1">
                  <a:lumMod val="85000"/>
                </a:schemeClr>
              </a:solidFill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FFFFFF"/>
                </a:outerShdw>
              </a:effectLst>
              <a:latin typeface="Gotham HTF Bold"/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MANO, M. Morris; KIME, Charles R. Lógica Digital e Projetos de Computadores. Pearson, 2017. 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HORSTMANN, </a:t>
            </a:r>
            <a:r>
              <a:rPr lang="pt-BR" sz="1400" dirty="0" err="1">
                <a:solidFill>
                  <a:schemeClr val="bg1">
                    <a:lumMod val="85000"/>
                  </a:schemeClr>
                </a:solidFill>
              </a:rPr>
              <a:t>Cay</a:t>
            </a: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 S. Big Java: Compatível com Java 7 e 8. Pearson, 2014. 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STALLINGS, William. Arquitetura e Organização de Computadores: Projeto para Desempenho. 11ª ed. Pearson, 2018. 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WILHELM, A. D. Introdução à Lógica Computacional. Pearson, 2013. 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HEURING, Vincent P.; JORDAN, Harry F. Introdução à Organização de Computadores. Pearson, 2011. </a:t>
            </a:r>
          </a:p>
          <a:p>
            <a:pPr>
              <a:defRPr/>
            </a:pPr>
            <a:endParaRPr lang="pt-BR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pt-BR" sz="1400" dirty="0">
                <a:solidFill>
                  <a:schemeClr val="bg1">
                    <a:lumMod val="85000"/>
                  </a:schemeClr>
                </a:solidFill>
              </a:rPr>
              <a:t>MAURICE, John E. Fundamentos de Arquitetura de Computadores. Pearson, 2012. </a:t>
            </a:r>
            <a:endParaRPr lang="pt-BR" sz="1400" dirty="0">
              <a:solidFill>
                <a:schemeClr val="bg1">
                  <a:lumMod val="85000"/>
                </a:schemeClr>
              </a:solidFill>
              <a:latin typeface="Gotham HTF Bold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8583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1AD209-EBB3-4E59-9795-EB0B5E306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10945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8D22272-077A-4587-A4FC-87048853DBA4}"/>
              </a:ext>
            </a:extLst>
          </p:cNvPr>
          <p:cNvSpPr txBox="1"/>
          <p:nvPr/>
        </p:nvSpPr>
        <p:spPr>
          <a:xfrm>
            <a:off x="7176120" y="1367721"/>
            <a:ext cx="33822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kern="0" cap="all" dirty="0" err="1">
                <a:solidFill>
                  <a:srgbClr val="ED135A"/>
                </a:solidFill>
                <a:latin typeface="Gotham HTF Light"/>
                <a:cs typeface="Gotham HTF Light"/>
              </a:rPr>
              <a:t>metodologia</a:t>
            </a:r>
            <a:endParaRPr lang="pt-BR" sz="2500" kern="0" cap="all" dirty="0">
              <a:solidFill>
                <a:srgbClr val="ED135A"/>
              </a:solidFill>
              <a:latin typeface="Gotham HTF Light"/>
              <a:cs typeface="Gotham HTF Light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46C200-87F4-4B92-B8A2-D2FDFA26E8F5}"/>
              </a:ext>
            </a:extLst>
          </p:cNvPr>
          <p:cNvSpPr/>
          <p:nvPr/>
        </p:nvSpPr>
        <p:spPr>
          <a:xfrm>
            <a:off x="7320136" y="2084951"/>
            <a:ext cx="3382263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Aulas com objetivos específicos.</a:t>
            </a:r>
          </a:p>
          <a:p>
            <a:endParaRPr lang="pt-BR" sz="1700" kern="0" spc="70" dirty="0">
              <a:solidFill>
                <a:schemeClr val="bg1"/>
              </a:solidFill>
              <a:latin typeface="Gotham HTF Light"/>
              <a:cs typeface="Gotham HTF Bold"/>
            </a:endParaRP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Conteúdo proposto associado a sua aplicação no dia-a-dia.</a:t>
            </a:r>
          </a:p>
          <a:p>
            <a:endParaRPr lang="pt-BR" sz="1700" kern="0" spc="70" dirty="0">
              <a:solidFill>
                <a:schemeClr val="bg1"/>
              </a:solidFill>
              <a:latin typeface="Gotham HTF Light"/>
              <a:cs typeface="Gotham HTF Bold"/>
            </a:endParaRP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Integração entre </a:t>
            </a: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as disciplinas.</a:t>
            </a:r>
          </a:p>
          <a:p>
            <a:endParaRPr lang="pt-BR" sz="1700" kern="0" spc="70" dirty="0">
              <a:solidFill>
                <a:schemeClr val="bg1"/>
              </a:solidFill>
              <a:latin typeface="Gotham HTF Light"/>
              <a:cs typeface="Gotham HTF Bold"/>
            </a:endParaRPr>
          </a:p>
          <a:p>
            <a:r>
              <a:rPr lang="pt-BR" sz="1700" kern="0" spc="70" dirty="0">
                <a:solidFill>
                  <a:schemeClr val="bg1"/>
                </a:solidFill>
                <a:latin typeface="Gotham HTF Light"/>
                <a:cs typeface="Gotham HTF Bold"/>
              </a:rPr>
              <a:t>Preparação para o mercado de trabalho e aos projetos propostos pela FIAP.</a:t>
            </a:r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E13F8180-5CD8-42D6-B52D-486520782D35}"/>
              </a:ext>
            </a:extLst>
          </p:cNvPr>
          <p:cNvSpPr/>
          <p:nvPr/>
        </p:nvSpPr>
        <p:spPr>
          <a:xfrm>
            <a:off x="7032104" y="2259029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D08D06C0-E99D-44EB-A859-4B4B7F95C39A}"/>
              </a:ext>
            </a:extLst>
          </p:cNvPr>
          <p:cNvSpPr/>
          <p:nvPr/>
        </p:nvSpPr>
        <p:spPr>
          <a:xfrm>
            <a:off x="7067021" y="4259343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F6FA152D-DDEA-44F0-AC30-CF07C753A9E9}"/>
              </a:ext>
            </a:extLst>
          </p:cNvPr>
          <p:cNvSpPr/>
          <p:nvPr/>
        </p:nvSpPr>
        <p:spPr>
          <a:xfrm>
            <a:off x="7032104" y="3501008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577E81A-A73F-4A60-BDB6-ABAE1B8C6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879976" cy="6858000"/>
          </a:xfrm>
          <a:prstGeom prst="rect">
            <a:avLst/>
          </a:prstGeom>
        </p:spPr>
      </p:pic>
      <p:sp>
        <p:nvSpPr>
          <p:cNvPr id="11" name="Oval 7">
            <a:extLst>
              <a:ext uri="{FF2B5EF4-FFF2-40B4-BE49-F238E27FC236}">
                <a16:creationId xmlns:a16="http://schemas.microsoft.com/office/drawing/2014/main" id="{55434052-4E29-48FE-BEA1-7BC0AF3AEA47}"/>
              </a:ext>
            </a:extLst>
          </p:cNvPr>
          <p:cNvSpPr/>
          <p:nvPr/>
        </p:nvSpPr>
        <p:spPr>
          <a:xfrm>
            <a:off x="7032104" y="2773021"/>
            <a:ext cx="83974" cy="83974"/>
          </a:xfrm>
          <a:prstGeom prst="ellipse">
            <a:avLst/>
          </a:prstGeom>
          <a:solidFill>
            <a:srgbClr val="FF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7666" tIns="43833" rIns="87666" bIns="43833" rtlCol="0" anchor="ctr"/>
          <a:lstStyle/>
          <a:p>
            <a:pPr algn="ctr"/>
            <a:endParaRPr lang="en-US" sz="1662"/>
          </a:p>
        </p:txBody>
      </p:sp>
    </p:spTree>
    <p:extLst>
      <p:ext uri="{BB962C8B-B14F-4D97-AF65-F5344CB8AC3E}">
        <p14:creationId xmlns:p14="http://schemas.microsoft.com/office/powerpoint/2010/main" val="21991560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137954" y="1212739"/>
            <a:ext cx="2488351" cy="21802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181" y="3908824"/>
            <a:ext cx="2725336" cy="1801092"/>
          </a:xfrm>
          <a:prstGeom prst="rect">
            <a:avLst/>
          </a:prstGeom>
        </p:spPr>
      </p:pic>
      <p:sp>
        <p:nvSpPr>
          <p:cNvPr id="11" name="CaixaDeTexto 3"/>
          <p:cNvSpPr txBox="1"/>
          <p:nvPr/>
        </p:nvSpPr>
        <p:spPr>
          <a:xfrm>
            <a:off x="2765367" y="2420888"/>
            <a:ext cx="66612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Bem  Vindos</a:t>
            </a:r>
          </a:p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Ao </a:t>
            </a:r>
          </a:p>
          <a:p>
            <a:pPr algn="ctr" defTabSz="457200">
              <a:defRPr/>
            </a:pPr>
            <a:r>
              <a:rPr lang="pt-BR" sz="5400" kern="1600" cap="all" dirty="0">
                <a:solidFill>
                  <a:srgbClr val="A2B6C1"/>
                </a:solidFill>
                <a:latin typeface="Gotham HTF Light" pitchFamily="50" charset="0"/>
              </a:rPr>
              <a:t>Futuro</a:t>
            </a:r>
          </a:p>
        </p:txBody>
      </p:sp>
    </p:spTree>
    <p:extLst>
      <p:ext uri="{BB962C8B-B14F-4D97-AF65-F5344CB8AC3E}">
        <p14:creationId xmlns:p14="http://schemas.microsoft.com/office/powerpoint/2010/main" val="15272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" y="132"/>
            <a:ext cx="12187091" cy="685773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rcRect r="51438"/>
          <a:stretch/>
        </p:blipFill>
        <p:spPr>
          <a:xfrm>
            <a:off x="4619836" y="2924944"/>
            <a:ext cx="2952328" cy="12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69851C83A66C54BAF5260C2FE031B75" ma:contentTypeVersion="13" ma:contentTypeDescription="Crie um novo documento." ma:contentTypeScope="" ma:versionID="9b8db59be8b8145cc434785a53847d26">
  <xsd:schema xmlns:xsd="http://www.w3.org/2001/XMLSchema" xmlns:xs="http://www.w3.org/2001/XMLSchema" xmlns:p="http://schemas.microsoft.com/office/2006/metadata/properties" xmlns:ns1="http://schemas.microsoft.com/sharepoint/v3" xmlns:ns3="7b91572d-6f74-4501-97d4-3273d2c077f8" xmlns:ns4="24efde5b-ebe8-43f5-adff-4a84e764f0cd" targetNamespace="http://schemas.microsoft.com/office/2006/metadata/properties" ma:root="true" ma:fieldsID="328d78511ee11fe6b86583d7ba6ae2a1" ns1:_="" ns3:_="" ns4:_="">
    <xsd:import namespace="http://schemas.microsoft.com/sharepoint/v3"/>
    <xsd:import namespace="7b91572d-6f74-4501-97d4-3273d2c077f8"/>
    <xsd:import namespace="24efde5b-ebe8-43f5-adff-4a84e764f0c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1:_ip_UnifiedCompliancePolicyProperties" minOccurs="0"/>
                <xsd:element ref="ns1:_ip_UnifiedCompliancePolicyUIActio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1572d-6f74-4501-97d4-3273d2c077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efde5b-ebe8-43f5-adff-4a84e764f0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6F4D8A-3282-48E4-AFF9-190F1C45920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EED7177-9E25-421E-81E9-0B992E0F1C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b91572d-6f74-4501-97d4-3273d2c077f8"/>
    <ds:schemaRef ds:uri="24efde5b-ebe8-43f5-adff-4a84e764f0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CC0CC5-D507-4D30-B110-F0B8ADA821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9740</TotalTime>
  <Words>762</Words>
  <Application>Microsoft Office PowerPoint</Application>
  <PresentationFormat>Widescreen</PresentationFormat>
  <Paragraphs>148</Paragraphs>
  <Slides>14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5" baseType="lpstr">
      <vt:lpstr>Arial</vt:lpstr>
      <vt:lpstr>Arial Narrow</vt:lpstr>
      <vt:lpstr>Biome</vt:lpstr>
      <vt:lpstr>Calibri</vt:lpstr>
      <vt:lpstr>Gotham HTF</vt:lpstr>
      <vt:lpstr>Gotham HTF Bold</vt:lpstr>
      <vt:lpstr>Gotham HTF Book</vt:lpstr>
      <vt:lpstr>Gotham HTF Light</vt:lpstr>
      <vt:lpstr>Gotham-Book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Marcelo Nakagawa</dc:creator>
  <cp:lastModifiedBy>Sandro Ferraz</cp:lastModifiedBy>
  <cp:revision>710</cp:revision>
  <cp:lastPrinted>2015-09-12T11:53:34Z</cp:lastPrinted>
  <dcterms:created xsi:type="dcterms:W3CDTF">2014-08-08T14:56:44Z</dcterms:created>
  <dcterms:modified xsi:type="dcterms:W3CDTF">2026-02-12T09:43:43Z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0x010100369851C83A66C54BAF5260C2FE031B75</vt:lpwstr>
  </property>
</Properties>
</file>